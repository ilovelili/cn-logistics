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c606d8efd4e0b" /><Relationship Type="http://schemas.openxmlformats.org/officeDocument/2006/relationships/extended-properties" Target="/docProps/app.xml" Id="Re69412b5ba1640b5" /><Relationship Type="http://schemas.openxmlformats.org/officeDocument/2006/relationships/officeDocument" Target="/ppt/presentation.xml" Id="Rf09df49cd5ab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d4f594f9ee4be0"/>
  </p:sldMasterIdLst>
  <p:notesMasterIdLst>
    <p:notesMasterId xmlns:r="http://schemas.openxmlformats.org/officeDocument/2006/relationships" r:id="R869c794f25324512"/>
  </p:notesMasterIdLst>
  <p:sldIdLst>
    <p:sldId xmlns:r="http://schemas.openxmlformats.org/officeDocument/2006/relationships" id="256" r:id="Rabc94c1f4b8f4834"/>
    <p:sldId xmlns:r="http://schemas.openxmlformats.org/officeDocument/2006/relationships" id="257" r:id="Rb78dd609cb714b08"/>
    <p:sldId xmlns:r="http://schemas.openxmlformats.org/officeDocument/2006/relationships" id="258" r:id="Raa7737f5152346bf"/>
    <p:sldId xmlns:r="http://schemas.openxmlformats.org/officeDocument/2006/relationships" id="259" r:id="R10840f7b70444f00"/>
    <p:sldId xmlns:r="http://schemas.openxmlformats.org/officeDocument/2006/relationships" id="260" r:id="Rd78ad0e6f2b24162"/>
    <p:sldId xmlns:r="http://schemas.openxmlformats.org/officeDocument/2006/relationships" id="261" r:id="R2631c6ddd2544261"/>
    <p:sldId xmlns:r="http://schemas.openxmlformats.org/officeDocument/2006/relationships" id="262" r:id="R87e9567eb8c1466b"/>
    <p:sldId xmlns:r="http://schemas.openxmlformats.org/officeDocument/2006/relationships" id="263" r:id="Rd406fe25607f4e31"/>
    <p:sldId xmlns:r="http://schemas.openxmlformats.org/officeDocument/2006/relationships" id="264" r:id="R673c3556a8a547c9"/>
    <p:sldId xmlns:r="http://schemas.openxmlformats.org/officeDocument/2006/relationships" id="265" r:id="Ra717a36ebba147be"/>
    <p:sldId xmlns:r="http://schemas.openxmlformats.org/officeDocument/2006/relationships" id="266" r:id="R42c547cab4fd4c29"/>
    <p:sldId xmlns:r="http://schemas.openxmlformats.org/officeDocument/2006/relationships" id="267" r:id="R303e8af85925494b"/>
    <p:sldId xmlns:r="http://schemas.openxmlformats.org/officeDocument/2006/relationships" id="268" r:id="R69164440359647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2e31993e440e7" /><Relationship Type="http://schemas.openxmlformats.org/officeDocument/2006/relationships/slideMaster" Target="/ppt/slideMasters/slideMaster1.xml" Id="R4fd4f594f9ee4be0" /><Relationship Type="http://schemas.openxmlformats.org/officeDocument/2006/relationships/notesMaster" Target="/ppt/notesMasters/notesMaster1.xml" Id="R869c794f25324512" /><Relationship Type="http://schemas.openxmlformats.org/officeDocument/2006/relationships/presProps" Target="/ppt/presProps.xml" Id="Ra30889e4fe064639" /><Relationship Type="http://schemas.openxmlformats.org/officeDocument/2006/relationships/tableStyles" Target="/ppt/tableStyles.xml" Id="Rcde21f0f0eb541c8" /><Relationship Type="http://schemas.openxmlformats.org/officeDocument/2006/relationships/slide" Target="/ppt/slides/slide1.xml" Id="Rabc94c1f4b8f4834" /><Relationship Type="http://schemas.openxmlformats.org/officeDocument/2006/relationships/slide" Target="/ppt/slides/slide2.xml" Id="Rb78dd609cb714b08" /><Relationship Type="http://schemas.openxmlformats.org/officeDocument/2006/relationships/slide" Target="/ppt/slides/slide3.xml" Id="Raa7737f5152346bf" /><Relationship Type="http://schemas.openxmlformats.org/officeDocument/2006/relationships/slide" Target="/ppt/slides/slide4.xml" Id="R10840f7b70444f00" /><Relationship Type="http://schemas.openxmlformats.org/officeDocument/2006/relationships/slide" Target="/ppt/slides/slide5.xml" Id="Rd78ad0e6f2b24162" /><Relationship Type="http://schemas.openxmlformats.org/officeDocument/2006/relationships/slide" Target="/ppt/slides/slide6.xml" Id="R2631c6ddd2544261" /><Relationship Type="http://schemas.openxmlformats.org/officeDocument/2006/relationships/slide" Target="/ppt/slides/slide7.xml" Id="R87e9567eb8c1466b" /><Relationship Type="http://schemas.openxmlformats.org/officeDocument/2006/relationships/slide" Target="/ppt/slides/slide8.xml" Id="Rd406fe25607f4e31" /><Relationship Type="http://schemas.openxmlformats.org/officeDocument/2006/relationships/slide" Target="/ppt/slides/slide9.xml" Id="R673c3556a8a547c9" /><Relationship Type="http://schemas.openxmlformats.org/officeDocument/2006/relationships/slide" Target="/ppt/slides/slide10.xml" Id="Ra717a36ebba147be" /><Relationship Type="http://schemas.openxmlformats.org/officeDocument/2006/relationships/slide" Target="/ppt/slides/slide11.xml" Id="R42c547cab4fd4c29" /><Relationship Type="http://schemas.openxmlformats.org/officeDocument/2006/relationships/slide" Target="/ppt/slides/slide12.xml" Id="R303e8af85925494b" /><Relationship Type="http://schemas.openxmlformats.org/officeDocument/2006/relationships/slide" Target="/ppt/slides/slide13.xml" Id="R691644403596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58b9fc4b5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d4218219f427d" /><Relationship Type="http://schemas.openxmlformats.org/officeDocument/2006/relationships/notesMaster" Target="/ppt/notesMasters/notesMaster1.xml" Id="R69e9c9f5d041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9021c39db40b2" /><Relationship Type="http://schemas.openxmlformats.org/officeDocument/2006/relationships/notesMaster" Target="/ppt/notesMasters/notesMaster1.xml" Id="Rfd8cc34de897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41d07f4e1430c" /><Relationship Type="http://schemas.openxmlformats.org/officeDocument/2006/relationships/notesMaster" Target="/ppt/notesMasters/notesMaster1.xml" Id="R8555b9676b22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57323b11b4272" /><Relationship Type="http://schemas.openxmlformats.org/officeDocument/2006/relationships/notesMaster" Target="/ppt/notesMasters/notesMaster1.xml" Id="R524192f70e3b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d17ba79dd4ed7" /><Relationship Type="http://schemas.openxmlformats.org/officeDocument/2006/relationships/notesMaster" Target="/ppt/notesMasters/notesMaster1.xml" Id="R581f10d96d2142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618a315854427" /><Relationship Type="http://schemas.openxmlformats.org/officeDocument/2006/relationships/notesMaster" Target="/ppt/notesMasters/notesMaster1.xml" Id="Rb50cd9f208494e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8e4f7317b84628" /><Relationship Type="http://schemas.openxmlformats.org/officeDocument/2006/relationships/notesMaster" Target="/ppt/notesMasters/notesMaster1.xml" Id="R783743e108be49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45dab3a4b4cd4" /><Relationship Type="http://schemas.openxmlformats.org/officeDocument/2006/relationships/notesMaster" Target="/ppt/notesMasters/notesMaster1.xml" Id="Re3fd8e6986f143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856b2ead124609" /><Relationship Type="http://schemas.openxmlformats.org/officeDocument/2006/relationships/notesMaster" Target="/ppt/notesMasters/notesMaster1.xml" Id="R7cc37e3a4cdb4b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5ec8213864ad7" /><Relationship Type="http://schemas.openxmlformats.org/officeDocument/2006/relationships/notesMaster" Target="/ppt/notesMasters/notesMaster1.xml" Id="Rb71a401ef9eb4e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8824bd64ce42e8" /><Relationship Type="http://schemas.openxmlformats.org/officeDocument/2006/relationships/notesMaster" Target="/ppt/notesMasters/notesMaster1.xml" Id="R241cb939fece4e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98f43cf2f47c9" /><Relationship Type="http://schemas.openxmlformats.org/officeDocument/2006/relationships/notesMaster" Target="/ppt/notesMasters/notesMaster1.xml" Id="Rd68dd9540c23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23706c67ca40aa" /><Relationship Type="http://schemas.openxmlformats.org/officeDocument/2006/relationships/notesMaster" Target="/ppt/notesMasters/notesMaster1.xml" Id="R960ab56eacc5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>- https://www1.hkexnews.hk/listedco/listconews/sehk/2026/0424/2026042402454.pdf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https://www.meti.go.jp/press/2025/08/20250826005/20250826005.html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市場統計と公開サービス情報を基にした経営向け要約。収益数値は後段の仮定モデル。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https://www.meti.go.jp/press/2025/08/20250826005/20250826005.html</a:t>
            </a:r>
          </a:p>
          <a:p xmlns:a="http://schemas.openxmlformats.org/drawingml/2006/main">
            <a:r>
              <a:t>- https://www.mlit.go.jp/report/press/jidosha04_hh_000341.html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金額・個数は各省公表値。2.64兆円は中国消費者が日本事業者から購入した越境EC額（2024年）。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https://www.mlit.go.jp/seisakutokatsu/freight/seisakutokatsu_freight_mn1_000034.html</a:t>
            </a:r>
          </a:p>
          <a:p xmlns:a="http://schemas.openxmlformats.org/drawingml/2006/main">
            <a:r>
              <a:t>- https://www.mlit.go.jp/hakusyo/mlit/r06/hakusho/r07/html/n1112000.html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国交省は、対策を講じない場合の輸送力不足を2024年度約14%、2030年度約34%とした。一方、2024年度分は官民対策で概ね解消したと説明している。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CN Logistics Japanが掲げる国際輸送・通関・配送・3PLのワンストップ提供を、顧客接点の業務フローに置き換えた整理。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>- https://www1.hkexnews.hk/listedco/listconews/sehk/2026/0424/2026042402454.pdf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公開情報で確認できるサービス領域と、一般的なSaaS・物流事業の収益構造を接続した機会仮説。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https://www.meti.go.jp/press/2025/08/20250826005/20250826005.html</a:t>
            </a:r>
          </a:p>
          <a:p xmlns:a="http://schemas.openxmlformats.org/drawingml/2006/main">
            <a:r>
              <a:t>- https://www.mlit.go.jp/report/press/jidosha04_hh_000341.html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TAM/SAM/SOMの境界を明示。SOMは公開市場統計からの推計ではなく、後段のボトムアップ仮定。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料金・社数・利用件数はすべて仮定。営業ヒアリングと実測ログで更新するための初期モデル。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年額＝有料社数×月額×12＋年間課金件数×単価。直接売上だけを算定し、間接効果は除外。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一変数感度の定性的整理。厳密な弾力性は価格テスト後に更新する。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閾値は初期の意思決定基準。実証開始前に計測方法と母数を固定する。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情報管理上、顧客向け書類と社内書類の権限分離を前提とする。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https://www.meti.go.jp/press/2025/08/20250826005/20250826005.html</a:t>
            </a:r>
          </a:p>
          <a:p xmlns:a="http://schemas.openxmlformats.org/drawingml/2006/main">
            <a:r>
              <a:t>- https://www.mlit.go.jp/report/press/jidosha04_hh_000341.html</a:t>
            </a:r>
          </a:p>
          <a:p xmlns:a="http://schemas.openxmlformats.org/drawingml/2006/main">
            <a:r>
              <a:t>- https://www.mlit.go.jp/seisakutokatsu/freight/seisakutokatsu_freight_mn1_000034.html</a:t>
            </a:r>
          </a:p>
          <a:p xmlns:a="http://schemas.openxmlformats.org/drawingml/2006/main">
            <a:r>
              <a:t>- https://www.mlit.go.jp/hakusyo/mlit/r06/hakusho/r07/html/n1112000.html</a:t>
            </a:r>
          </a:p>
          <a:p xmlns:a="http://schemas.openxmlformats.org/drawingml/2006/main">
            <a:r>
              <a:t>- https://www.cnlogistics.co.jp/index.html</a:t>
            </a:r>
          </a:p>
          <a:p xmlns:a="http://schemas.openxmlformats.org/drawingml/2006/main">
            <a:r>
              <a:t>- https://www1.hkexnews.hk/listedco/listconews/sehk/2026/0424/2026042402454.pdf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調査日：2026年8月1日。公開情報の数値と仮定値を区別して記載。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a7b261a99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5b6c938b742e0" /><Relationship Type="http://schemas.openxmlformats.org/officeDocument/2006/relationships/slideLayout" Target="/ppt/slideLayouts/slideLayout1.xml" Id="Rc016beb1a6a5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16beb1a6a5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64f2b41b14935" /><Relationship Type="http://schemas.openxmlformats.org/officeDocument/2006/relationships/notesSlide" Target="/ppt/notesSlides/notesSlide1.xml" Id="Rb1ca79a9e7ef4b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fa6e725347ca" /><Relationship Type="http://schemas.openxmlformats.org/officeDocument/2006/relationships/notesSlide" Target="/ppt/notesSlides/notesSlide2.xml" Id="Rf428bb2b391d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f4865317e40bc" /><Relationship Type="http://schemas.openxmlformats.org/officeDocument/2006/relationships/notesSlide" Target="/ppt/notesSlides/notesSlide3.xml" Id="Rf6822a1bc63049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2f4ea1e04601" /><Relationship Type="http://schemas.openxmlformats.org/officeDocument/2006/relationships/notesSlide" Target="/ppt/notesSlides/notesSlide4.xml" Id="R28eab56ba169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1f9f7ff174f2a" /><Relationship Type="http://schemas.openxmlformats.org/officeDocument/2006/relationships/notesSlide" Target="/ppt/notesSlides/notesSlide5.xml" Id="R66ae165986e1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01390cded42b3" /><Relationship Type="http://schemas.openxmlformats.org/officeDocument/2006/relationships/notesSlide" Target="/ppt/notesSlides/notesSlide6.xml" Id="R51c63b081e11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e69bf673d412a" /><Relationship Type="http://schemas.openxmlformats.org/officeDocument/2006/relationships/notesSlide" Target="/ppt/notesSlides/notesSlide7.xml" Id="R306ac26cbdab4e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0eac45a524baa" /><Relationship Type="http://schemas.openxmlformats.org/officeDocument/2006/relationships/notesSlide" Target="/ppt/notesSlides/notesSlide8.xml" Id="R7633cb2fd3d244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9dbbd378a4798" /><Relationship Type="http://schemas.openxmlformats.org/officeDocument/2006/relationships/chart" Target="/ppt/slides/charts/chart1.xml" Id="Rf7ef6da3d8d44396" /><Relationship Type="http://schemas.openxmlformats.org/officeDocument/2006/relationships/notesSlide" Target="/ppt/notesSlides/notesSlide9.xml" Id="Rb7150e5696cf41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202bd12fd4404" /><Relationship Type="http://schemas.openxmlformats.org/officeDocument/2006/relationships/notesSlide" Target="/ppt/notesSlides/notesSlide10.xml" Id="Rba4ce084182944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7e3ff89784845" /><Relationship Type="http://schemas.openxmlformats.org/officeDocument/2006/relationships/notesSlide" Target="/ppt/notesSlides/notesSlide11.xml" Id="R42916f6cf1a545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977b1ba6e4bae" /><Relationship Type="http://schemas.openxmlformats.org/officeDocument/2006/relationships/notesSlide" Target="/ppt/notesSlides/notesSlide12.xml" Id="Ra5afd662503f40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9b9e76e9c43f3" /><Relationship Type="http://schemas.openxmlformats.org/officeDocument/2006/relationships/notesSlide" Target="/ppt/notesSlides/notesSlide13.xml" Id="R04b917048133466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年間直接売上（百万円）</c:v>
          </c:tx>
          <c:spPr>
            <a:solidFill xmlns:a="http://schemas.openxmlformats.org/drawingml/2006/main">
              <a:srgbClr val="1677D2"/>
            </a:solidFill>
          </c:spPr>
          <c:cat>
            <c:strLit>
              <c:ptCount val="3"/>
              <c:pt idx="0">
                <c:v>保守</c:v>
              </c:pt>
              <c:pt idx="1">
                <c:v>基準</c:v>
              </c:pt>
              <c:pt idx="2">
                <c:v>強気</c:v>
              </c:pt>
            </c:strLit>
          </c:cat>
          <c:val>
            <c:numLit>
              <c:formatCode>General</c:formatCode>
              <c:ptCount val="3"/>
              <c:pt idx="0">
                <c:v>32.4</c:v>
              </c:pt>
              <c:pt idx="1">
                <c:v>86.4</c:v>
              </c:pt>
              <c:pt idx="2">
                <c:v>170.4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</a:p>
        </c:txPr>
        <c:crossAx val="48650112"/>
        <c:crossBetween val="between"/>
        <c:majorUnit val="3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EDC82-CD4B-4A06-9390-16341CA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CN LOGISTICS JAPAN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8CEAD-BC85-49E5-8432-91DB6D41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81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追跡システムは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4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どこまで売上をつくれるか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033FE-B6E0-48B8-9369-7250E0C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物流可視化・書類ワークフローの市場性と3年間の収益シナリオ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4AAD9-3EC2-468D-82A2-C5F7D8D9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2026年8月｜公開情報に基づく事業仮説</a:t>
            </a:r>
          </a:p>
        </p:txBody>
      </p:sp>
    </p:spTree>
    <p:extLst>
      <p:ext uri="{BB962C8B-B14F-4D97-AF65-F5344CB8AC3E}">
        <p14:creationId xmlns:p14="http://schemas.microsoft.com/office/powerpoint/2010/main" val="10491707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A1420-7C65-49C8-A238-7B852F4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8EEC0-344B-424D-B031-888ABA0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結論：追跡は「機能」より、契約を強くする営業基盤になる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96385-1427-4535-AFE3-144A3CF1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3EBBC-618B-41E5-A7F0-130BC3A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505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1833-9D16-479E-BC83-6E6E1EA8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需要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7B55-F751-4077-99AC-A46D54BF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952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ECと越境取引は増加が続く。荷主は輸送状況と書類を同じ場所で確認したい。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F23E6-6109-4047-A5BA-E89CB95F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E5DE0-5EC0-4DDD-AB77-0C9993A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505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381D8-0F1E-4DAF-B97C-BF13F6A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収益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C6E71-61ED-4338-9142-A45B0F7F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2952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月額利用料だけでなく、物流契約の継続・追加受注・運用工数削減まで含めて評価する。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C81EA-9217-4176-AE74-8C64A24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291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BF0C3-03F6-43E6-83AC-65F0A27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3505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4BD6F-C046-4680-9A12-15ED1F88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0B1DD-B28A-4029-8936-5D32ADA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952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3年目の直接売上は0.32〜1.70億円の仮説。まず10社で価格と利用率を検証する。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F7DA6-CD3F-4F3F-AE83-95AE96E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CEC1E-4820-442E-AD36-0A41AD61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売上試算はCN Logistics Japanの実績値ではなく、料金・導入社数・出荷量を置いた事業仮説。</a:t>
            </a:r>
          </a:p>
        </p:txBody>
      </p:sp>
    </p:spTree>
    <p:extLst>
      <p:ext uri="{BB962C8B-B14F-4D97-AF65-F5344CB8AC3E}">
        <p14:creationId xmlns:p14="http://schemas.microsoft.com/office/powerpoint/2010/main" val="10355589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CAD2C-3432-4461-A763-57C4BE3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00A76-D205-40B2-A6CE-ABEF574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市場は拡大。ただし勝負は「荷物の数」ではなく、情報の扱いやすさ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B2B15-A0DC-4E18-B96F-484B325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D30E3-FC58-4BEE-8DE7-0AEF647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26.1兆円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68436-F779-4E85-A1A3-D5E9D9C8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国内BtoC-EC市場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9025C-3340-471B-BB58-CA0BAFE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2024年、前年比+5.1%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8CEB0-5B5E-4FD1-BFB4-BE3CF71B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28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50.3億個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238625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B87ED-4E87-423F-9522-D5EDFFB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52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国内宅配便取扱個数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1B54-51D7-49FB-9B16-9D5B480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2024年度、前年比+0.5%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8071E-67F5-421E-9061-AFB2627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2.64兆円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07720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425B3-C1DE-46FA-A9D0-74EC65DA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中国消費者の日本向け越境EC購入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70C15-FB12-4FD5-96ED-10308C4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2024年、前年比+8.5%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C06A3-6B51-43C9-94CB-7E4C00F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14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EA620-ED5E-4EFC-8441-B7F65F5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取扱量が伸びるほど、問い合わせ・書類確認・例外対応も増える。追跡画面は、その増加を人員増だけで受け止めないための仕組みになる。</a:t>
            </a:r>
          </a:p>
        </p:txBody>
      </p:sp>
    </p:spTree>
    <p:extLst>
      <p:ext uri="{BB962C8B-B14F-4D97-AF65-F5344CB8AC3E}">
        <p14:creationId xmlns:p14="http://schemas.microsoft.com/office/powerpoint/2010/main" val="17104698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2F6E6-70B1-40D3-AD26-58723CDD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4F1E-D57D-4258-9BBB-77CF2339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65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法対応と人手不足で、荷主との情報共有は「あると便利」ではなくなる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DBDAC-1CC7-461D-ACDC-D66314E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C316C-DF29-4B85-B597-3D48278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CBA94-68E1-41BB-82CE-1DDA8F8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2524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時間外労働規制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輸送力不足への対応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714500" y="2286000"/>
            <a:ext cx="742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8B5A7-7736-4E49-982C-BCE376A6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5B6D7-21E1-4ED2-8147-A194447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1937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荷主・物流事業者に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物流効率化の努力義務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BBA1B-D2C6-4848-B5BE-6A346A0D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19FB6-BCA6-4742-B439-8C1F7E4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一定規模以上は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中長期計画・定期報告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AC1E6-63A7-4DA3-A561-EE1BF04C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8FDEF-93BE-4562-8329-1557AACD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記録が残る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F26CB-82A5-46C9-9182-E1F1C6C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進捗・書類・承認履歴が、顧客説明と社内確認の共通記録になる。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B0BC1-2706-41BF-9158-7E341EB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24375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572ED-DA9D-4FB6-A3E4-C5BCD36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例外を早く見つける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D7113-91C8-4431-B929-4C1337C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遅延や書類不足を一覧化し、担当者が追うべき案件を絞れる。</a:t>
            </a:r>
          </a:p>
        </p:txBody>
      </p:sp>
    </p:spTree>
    <p:extLst>
      <p:ext uri="{BB962C8B-B14F-4D97-AF65-F5344CB8AC3E}">
        <p14:creationId xmlns:p14="http://schemas.microsoft.com/office/powerpoint/2010/main" val="18029182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454D9-F77A-4960-B130-BCF8312A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878AD-B812-4CD8-B4A6-4009F3C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顧客が困るのは「今どこか」より、次に何をすべきか分からない時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E207D-CEEA-4F05-92ED-1855057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38200" y="28575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0E433-4A3E-44A6-AF42-124E089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7309C-AE81-4F5F-B878-DDEF34B0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85E5F-AF79-4609-9818-EB05B08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集荷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B5A17-A50E-4D4C-8EEE-308CC512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受付済みか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38E5A-99B3-4BE2-A851-C685328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76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CDFC7-5513-4C8C-A4AC-B738DC67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E9CCC-0915-4AF4-9BB1-4FF4817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43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輸送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4D864-CE9E-41C5-A3C3-09E3DA3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718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遅れはあるか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27AAC-4C4F-4FA7-9644-1AD0029E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0457D-A561-4857-8A81-43F91FD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A323B-5EBE-4E3C-9245-B20ED0E1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通関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256DC-1931-4BB6-9AF7-38937877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追加書類は何か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D4918-2D2F-4CC1-B0D0-F4F51B04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0A505-6F1F-48AC-B57F-033BA192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554DB-8F12-4161-A662-D8D2A57C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配送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7BFDD-4521-42DE-B3B6-BF95105B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718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いつ届くか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CA19B-2A2F-4ACE-986F-4BCDA484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892AF-F420-4C9E-8C76-0F8DCF06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13D4E-0ED9-46A3-8081-A64BE47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完了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8CC3D-A88C-446F-9E1C-E1755DA8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証憑はどこか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C2D29-5317-413C-9447-D118E1D2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14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561C0-F14E-4325-B197-3DAD98FD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追跡・書類・承認を別々に探す状態では、問い合わせが減らない。案件単位で「状況・不足・次の行動」を並べることが価値になる。</a:t>
            </a:r>
          </a:p>
        </p:txBody>
      </p:sp>
    </p:spTree>
    <p:extLst>
      <p:ext uri="{BB962C8B-B14F-4D97-AF65-F5344CB8AC3E}">
        <p14:creationId xmlns:p14="http://schemas.microsoft.com/office/powerpoint/2010/main" val="16812761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51203-EB31-4179-9E56-4615668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B7821-FBE5-42FD-BAF6-2E49E8F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追跡システムが生む機会は、売上・継続・生産性の3層にある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9F5B5-8E25-4FA6-A7BF-9CBE6677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DA8B3-1097-4B1F-8E4B-5037540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価値の層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07BD-3958-485E-AA37-51122A2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顧客に見えるもの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8360D-2B3A-43BC-A8E2-5787D9B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収益へのつながり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20002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EC69A-A564-400A-8CB4-2B899C8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91358-6915-44D3-9ACB-1EE4836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直接売上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BAFE9-458B-4414-B131-421F6CD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有料プラン／書類ワークフロー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A8B83-9A81-4BD6-85E7-D2B7481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月額基本料＋利用量課金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28479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D550-8B7D-4D49-B735-5818667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物流売上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2DE1B-1797-48F7-AE8D-1BF20AE5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95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新規荷主の受注／追加レーン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52229-9271-4A3D-BA3D-66826968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提案時の差別化と運用品質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37528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A20DC-DF06-48BD-BFA4-A5F0128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継続率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48983-9E21-4DFB-AE96-E5D3BEF8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問い合わせ減／説明品質の平準化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6211B-4101-43E9-ADE0-9A73FEC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解約防止・契約拡大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46577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9BFFD-4029-4473-BF35-2DCF8B9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粗利改善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52ECB-A9E5-4BF1-AB57-B77B486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確認作業・メール往復の削減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7151D-858E-4EFF-9837-9F6CC7FD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1件当たり対応時間の短縮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55626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673078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C1932-43AC-41B1-9A86-7574916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1D6B7-CA72-4F2F-9F8E-73D24B9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市場規模は大きいが、狙うべき市場はCNの既存商流から絞る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FDD96-B03E-424B-88BF-3204CBE6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0AFBD-241E-4C95-8344-2B632F5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19DBF-20D7-4A07-B978-2B9000A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TAM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9195E-5BEA-45E9-9CF3-B2604B3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国内EC・宅配に関わる情報需要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4711E-D7FC-422A-8FC0-FF70776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26.1兆円／50.3億個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85F5A-9C84-4EF8-BB16-66F4720C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431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市場の追い風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7E7B7-7428-4688-BE10-C2D28A3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00375"/>
            <a:ext cx="8858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78CC7-3DDB-4C92-A5EB-1708661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718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SAM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77B38-EC97-456D-A0A3-F46D7569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337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国際輸送・3PL・越境ECの荷主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D9471-89CD-4832-8902-BAAC0FED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33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公開統計だけでは算定不可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98E91-3F47-405C-9B78-5E197C2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24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顧客台帳で確定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A8CE5-35AB-4D25-9922-BA370761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81500"/>
            <a:ext cx="7048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1DCC0-E43B-4D3B-BEF1-C43780A2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SOM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CD94C-C43B-4F27-AD4A-FA37F12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3年で有料50社・12万件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6F1DE-CB66-413D-90CA-854F691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14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直接売上0.86億円／年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1651E-E668-412D-84E4-D00A0F3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053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基準シナリオ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3E282-39E1-4AB4-A050-6D67BCA7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TAMは追跡ソフトの売上ではなく、需要の母数。SAMは既存顧客数・見込み顧客数・年間出荷件数がないと精度が出ない。</a:t>
            </a:r>
          </a:p>
        </p:txBody>
      </p:sp>
    </p:spTree>
    <p:extLst>
      <p:ext uri="{BB962C8B-B14F-4D97-AF65-F5344CB8AC3E}">
        <p14:creationId xmlns:p14="http://schemas.microsoft.com/office/powerpoint/2010/main" val="774132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8E04-CDB4-4C09-B090-52ED0A07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B4117-6B72-487C-A783-2475562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収益は「月額基本料＋利用量課金」で小さく始め、物流受注で伸ばす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690AF-5931-4A01-BCAB-A68A224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22CEB-0DB3-41B4-9887-CD226AB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E97BD-4B29-4AF8-B5A3-D96D617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月額基本料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8AE13-A0BD-4EAF-96F7-06FA79E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5〜20万円／社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1A2A3-052A-4F11-A4EC-55AB090A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権限・通知・レポート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41941-929A-423A-A835-BAEFD96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D6BC2-7672-4EDE-A566-452D7E85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利用量課金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AB98-1F58-4A7A-B757-79E70616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86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80〜150円／件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C3150-01C1-47C0-9002-4805689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29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書類申請・承認・保管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F4FBD-4A79-4DFD-92EB-478CB4B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D83D3-D0A5-45E7-B367-B6346F47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物流クロスセル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2466B-EDF1-489C-98FC-6954C1C1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別管理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E1F52-4C07-4007-91FF-D9B31BF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追加レーン・3PL・通関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18395-1C8D-4B89-BADE-F3C42E68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基準ケースの式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B8139-B289-4552-B6B9-DBB5F7F8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50社 × 12万円 × 12か月 ＋ 12万件 × 120円 ＝ 8,640万円／年</a:t>
            </a:r>
          </a:p>
        </p:txBody>
      </p:sp>
    </p:spTree>
    <p:extLst>
      <p:ext uri="{BB962C8B-B14F-4D97-AF65-F5344CB8AC3E}">
        <p14:creationId xmlns:p14="http://schemas.microsoft.com/office/powerpoint/2010/main" val="4421945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8C1BE-7A36-4F05-B67C-6B566F9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E3C83-43F1-42F1-92E6-47AED9E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3年目の直接売上は0.32〜1.70億円。差を決めるのは有料化率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61873-DAD9-4308-AE2C-5E21626B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6191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ef6da3d8d443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BB5E5-A619-4510-9A50-6F7C34D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23298-3CD1-42F6-B906-3A02C63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812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保守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1BF84-C969-4455-A360-93A52FD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25社｜8万円/月｜6万件×140円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D68A6-F00E-432D-A7FC-6DD9A045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DD3DF-B686-4489-B416-F35CC8E4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718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BB348-9270-409D-9D3A-F4B10B5E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527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50社｜12万円/月｜12万件×120円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C56D3-368A-4F1F-81A9-4FD3188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FBDFD-F5D1-4CA7-82A9-5301014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624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強気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828AC-8BE5-4A73-8403-63820EF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80社｜15万円/月｜22万件×120円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03A0A-79BA-46EC-BAB4-70C4D0E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※物流受注の増加、解約防止、工数削減は含めない</a:t>
            </a:r>
          </a:p>
        </p:txBody>
      </p:sp>
    </p:spTree>
    <p:extLst>
      <p:ext uri="{BB962C8B-B14F-4D97-AF65-F5344CB8AC3E}">
        <p14:creationId xmlns:p14="http://schemas.microsoft.com/office/powerpoint/2010/main" val="6569547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53842-85BA-4772-BE76-83EDC322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B8B3-70EA-488D-880E-2EADC7F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売上を最も動かすのは単価より、有料社数と日常利用への定着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90608-0A49-4A60-B41F-5C09EA16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954F-3CD4-4D0C-9AD9-FB4A83B8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変数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DB418-E778-4C37-9C06-4995709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基準値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07E94-4038-4BB4-AC72-CFE7D947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109B7-576B-4E42-9C38-3930CC9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打ち手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00050" y="19526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6ECAD-4B5E-40CF-A039-DAD7759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有料社数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AF019-0E58-4CF6-A2AA-A3E9566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50社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206C8-A15C-4E0F-9CE3-8B2536E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最優先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75872-E605-49A5-9DC3-24499F8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営業対象と更新率を週次管理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28289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B2F48-94D5-40DB-8C3C-1CB99A4C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月額単価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6B048-9180-46EB-AEDF-A8EB3AA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12万円/月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C0627-9FFD-4E01-8522-86F70A1E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E1E77-E240-408F-A65A-74E146A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権限・レポート・APIで段階化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37242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0D500-F520-4945-9128-FF98C98F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年間課金件数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0105E-7BB4-44B5-8829-728CA90E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12万件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65D2C-4454-4327-8C0D-7D48770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定着指標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DDCBC-E480-4A84-854F-F341268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書類承認を追跡画面に集約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46196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88E92-D157-4471-8A92-AB270FFE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件数単価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A2D13-6E73-4DDE-8BA7-5E0FBFE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120円/件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282D0-C7F1-4FA0-8874-AF15A1D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補助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D3FD0-BC5C-46B6-8B66-5689399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価格より請求の分かりやすさ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55149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58454A-F3B2-4E4A-AD55-0D7567C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31731-66D1-4281-A7E9-845FD8D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最初の価格テストは3プランで十分。料金表を細かくする前に、毎週使われる業務を1つ作る。</a:t>
            </a:r>
          </a:p>
        </p:txBody>
      </p:sp>
    </p:spTree>
    <p:extLst>
      <p:ext uri="{BB962C8B-B14F-4D97-AF65-F5344CB8AC3E}">
        <p14:creationId xmlns:p14="http://schemas.microsoft.com/office/powerpoint/2010/main" val="19573687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B3F91-2B63-49A9-8705-3425A9B6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CF549-C879-4953-85A4-8C9EDAB9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90日で売れるかを確かめ、12か月で物流提案の標準装備にする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13DAE-E75F-4837-B428-6D2D0637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3048000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ADF1F-670B-41D4-8DBA-D4179856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DF4A-DB57-4DD7-B2E9-79B27CCD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0〜30日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95D6C-4B54-4E40-8C82-4019125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90C9-E117-40F9-B6EF-F11A38C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既存顧客10社へ聞く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問い合わせ・書類業務を計測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6D3F5-ECA1-477D-BD2F-382A2B8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8607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0D304-494E-47EC-A469-B9F2723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31〜90日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5F305-F8D1-432C-B08B-A6CE39E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有料実証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90A1C-E05E-44CC-BF24-7A7B048C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3〜5社で価格テスト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利用率と削減時間を確認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B8E02-DAFD-43A4-AFBF-60EEDA2A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BE11D-5AF3-4AC0-B32A-C44F26F5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4〜12か月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6C4FA-C6D1-47F4-9DAB-7AE513E9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標準化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936E5-A5A8-445A-99C9-89B85978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営業資料と見積に組み込む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3プランで提供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30D82-DFD2-4156-A87D-D475079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14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E8353-3732-4601-8A4E-D9A94DE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次の投資判断：有料化率30%以上、週次利用率60%以上、問い合わせ時間20%以上削減のうち2つを達成。</a:t>
            </a:r>
          </a:p>
        </p:txBody>
      </p:sp>
    </p:spTree>
    <p:extLst>
      <p:ext uri="{BB962C8B-B14F-4D97-AF65-F5344CB8AC3E}">
        <p14:creationId xmlns:p14="http://schemas.microsoft.com/office/powerpoint/2010/main" val="2454394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B2B74-A40D-40FF-9C25-63B0E8C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93D1-13F9-4F01-AC18-61C74FBC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作る判断ではなく、売れる条件を先に確かめる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41DB6-A212-4CEB-893C-7FF0FD05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FE362-5D8D-4233-8900-592D2A9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リスク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5589A-2E16-4856-AF3E-14112559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起こり方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4A136-E630-47B7-9A95-07AB31D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先に打つ手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9526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BFE0-AD40-436A-A7EC-303A919A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データ連携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84DCE-573A-49E8-A762-B5E8174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運送会社・海外拠点で更新粒度が違う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04130-5712-4166-B255-74AC5655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例外ステータスと手動補正を設計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27717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ECFD7-EBD1-460C-988D-0B05775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情報管理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1CE3-E847-495E-8E05-9FDD3B0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顧客書類と社内書類の境界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DC7F5-0731-48C0-8A56-5AF4392C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権限・監査ログ・期限管理を必須化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35909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A9CA5-29D4-43B7-A24F-BD9B2D83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4A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C44A45"/>
                </a:solidFill>
                <a:latin typeface="Hiragino Sans"/>
                <a:ea typeface="Hiragino Sans"/>
                <a:cs typeface="Hiragino Sans"/>
              </a:rPr>
              <a:t>無料化圧力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40AF0-5FFE-4889-AAE7-5168799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追跡は無料と思われやすい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C16E8-AFA7-4F57-9838-7E6EFD9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書類承認・通知・分析を有料価値にする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44100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A3FD3-D52E-4E6B-9575-1692467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営業定着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B8D03-19F5-4DCE-94FA-479B860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機能説明だけでは売れない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244FE-EC93-497D-B0C4-A5C07E88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物流提案の運用改善シナリオで示す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52292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DFB57-4E21-4116-98E6-9D3FE4B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7A1BB-8CE7-44BC-82EB-233B806F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推奨：追加開発の前に、既存顧客10社への需要・価格ヒアリングを実施する。</a:t>
            </a:r>
          </a:p>
        </p:txBody>
      </p:sp>
    </p:spTree>
    <p:extLst>
      <p:ext uri="{BB962C8B-B14F-4D97-AF65-F5344CB8AC3E}">
        <p14:creationId xmlns:p14="http://schemas.microsoft.com/office/powerpoint/2010/main" val="18208141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2B8CE-6BEF-4D82-96C4-C64B7B6D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CN LOGISTICS JAPAN｜MARKET REPORT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B71A-2F53-4FAD-A281-56378EC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主な出典と試算上の注意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867E1-4830-476E-888C-D50722FC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5D7FC-68FB-41F5-B1E7-E1E17D3D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経済産業省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0D90-E2BE-4FB6-A6EF-1D5108F3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令和6年度 電子商取引に関する市場調査（2024年実績）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DD8BD-02B4-4826-83D0-3E9DE802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https://www.meti.go.jp/press/2025/08/20250826005/20250826005.html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20669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4CB6D-0B0B-4541-9962-2DE5C920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5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国土交通省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5ECA2-A61B-46C8-BDD5-D7AD5EE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令和6年度 宅配便・メール便取扱実績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266F9-1728-4F49-B3AE-16B07699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https://www.mlit.go.jp/report/press/jidosha04_hh_000341.html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28479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381DB-EF8E-4264-87BF-7286B3B9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86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国土交通省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E8664-93C9-45F2-9C83-93B0F58A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物流効率化法／荷主・物流事業者向け情報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96051-A833-459C-909D-A530064A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https://www.mlit.go.jp/seisakutokatsu/freight/seisakutokatsu_freight_mn1_000034.html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36290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8DF05-FB20-4823-BD2D-FCD8FECA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CN Logistics Japan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D4D3E-6C5D-42E8-B040-646EEE3D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公式サイト：国際輸送・3PL・越境EC・会社概要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49AA3-8269-4D75-B403-6DB1C90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https://www.cnlogistics.co.jp/index.html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441007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9F7F3-E3C7-4479-8F16-B159360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48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677D2"/>
                </a:solidFill>
                <a:latin typeface="Hiragino Sans"/>
                <a:ea typeface="Hiragino Sans"/>
                <a:cs typeface="Hiragino Sans"/>
              </a:rPr>
              <a:t>CN Logistics International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1EC63-A8EF-4D82-B50B-FAED1CD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Annual Report 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88373-6B1A-4BF5-B921-99E6B2B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555B66"/>
                </a:solidFill>
                <a:latin typeface="Hiragino Sans"/>
                <a:ea typeface="Hiragino Sans"/>
                <a:cs typeface="Hiragino Sans"/>
              </a:rPr>
              <a:t>https://www1.hkexnews.hk/listedco/listconews/sehk/2026/0424/2026042402454.pdf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5191125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CBD4E-785E-470E-89A8-22A9BDCA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71B6C-0F25-4A30-9B96-C7158613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売上シナリオは公開情報から確認できない顧客数・料金・出荷件数を仮定したもの。投資判断前に実績データで更新する。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91887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2026-08-01T07:28:48.3000000Z</dcterms:created>
  <dcterms:modified xsi:type="dcterms:W3CDTF">2026-08-01T07:28:48.3000000Z</dcterms:modified>
</coreProperties>
</file>